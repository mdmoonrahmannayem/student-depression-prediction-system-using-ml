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76" r:id="rId3"/>
    <p:sldId id="278" r:id="rId4"/>
    <p:sldId id="279" r:id="rId5"/>
    <p:sldId id="281" r:id="rId6"/>
    <p:sldId id="280" r:id="rId7"/>
    <p:sldId id="274" r:id="rId8"/>
    <p:sldId id="282" r:id="rId9"/>
    <p:sldId id="283" r:id="rId10"/>
    <p:sldId id="284" r:id="rId11"/>
    <p:sldId id="285" r:id="rId12"/>
    <p:sldId id="286" r:id="rId13"/>
    <p:sldId id="273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0" d="100"/>
          <a:sy n="80" d="100"/>
        </p:scale>
        <p:origin x="58" y="-31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09800" y="4464028"/>
            <a:ext cx="9144000" cy="1641490"/>
          </a:xfrm>
        </p:spPr>
        <p:txBody>
          <a:bodyPr wrap="none" anchor="t">
            <a:normAutofit/>
          </a:bodyPr>
          <a:lstStyle>
            <a:lvl1pPr algn="r">
              <a:defRPr sz="9600" b="0" spc="-300">
                <a:gradFill flip="none" rotWithShape="1">
                  <a:gsLst>
                    <a:gs pos="32000">
                      <a:schemeClr val="tx1">
                        <a:lumMod val="89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8100000" scaled="1"/>
                  <a:tileRect/>
                </a:gradFill>
                <a:effectLst>
                  <a:outerShdw blurRad="469900" dist="342900" dir="5400000" sy="-20000" rotWithShape="0">
                    <a:prstClr val="black">
                      <a:alpha val="66000"/>
                    </a:prstClr>
                  </a:outerShdw>
                </a:effectLst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09799" y="3694375"/>
            <a:ext cx="9144000" cy="754025"/>
          </a:xfrm>
        </p:spPr>
        <p:txBody>
          <a:bodyPr anchor="b">
            <a:normAutofit/>
          </a:bodyPr>
          <a:lstStyle>
            <a:lvl1pPr marL="0" indent="0" algn="r">
              <a:buNone/>
              <a:defRPr sz="3200" b="0">
                <a:gradFill flip="none" rotWithShape="1"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  <a:tileRect/>
                </a:gra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D19FB2-3AAB-4D03-B13A-2960828C78E3}" type="datetimeFigureOut">
              <a:rPr lang="en-US" dirty="0"/>
              <a:t>5/20/2025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916976-5D93-46E4-A98A-FAD63E4D0EA8}" type="datetimeFigureOut">
              <a:rPr lang="en-US" dirty="0"/>
              <a:t>5/20/2025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ctrTitle"/>
          </p:nvPr>
        </p:nvSpPr>
        <p:spPr>
          <a:xfrm>
            <a:off x="854532" y="4464028"/>
            <a:ext cx="9144000" cy="1641490"/>
          </a:xfrm>
        </p:spPr>
        <p:txBody>
          <a:bodyPr wrap="none" anchor="t">
            <a:normAutofit/>
          </a:bodyPr>
          <a:lstStyle>
            <a:lvl1pPr algn="l">
              <a:defRPr sz="9600" b="0" spc="-300">
                <a:gradFill flip="none" rotWithShape="1">
                  <a:gsLst>
                    <a:gs pos="32000">
                      <a:schemeClr val="tx1">
                        <a:lumMod val="89000"/>
                      </a:schemeClr>
                    </a:gs>
                    <a:gs pos="0">
                      <a:schemeClr val="bg1">
                        <a:lumMod val="47000"/>
                        <a:lumOff val="53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8100000" scaled="1"/>
                  <a:tileRect/>
                </a:gradFill>
                <a:effectLst>
                  <a:outerShdw blurRad="469900" dist="342900" dir="5400000" sy="-20000" rotWithShape="0">
                    <a:prstClr val="black">
                      <a:alpha val="66000"/>
                    </a:prstClr>
                  </a:outerShdw>
                </a:effectLst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Subtitle 2"/>
          <p:cNvSpPr>
            <a:spLocks noGrp="1"/>
          </p:cNvSpPr>
          <p:nvPr>
            <p:ph type="subTitle" idx="1"/>
          </p:nvPr>
        </p:nvSpPr>
        <p:spPr>
          <a:xfrm>
            <a:off x="854532" y="3693674"/>
            <a:ext cx="9144000" cy="754025"/>
          </a:xfrm>
        </p:spPr>
        <p:txBody>
          <a:bodyPr anchor="b">
            <a:normAutofit/>
          </a:bodyPr>
          <a:lstStyle>
            <a:lvl1pPr marL="0" indent="0" algn="l">
              <a:buNone/>
              <a:defRPr sz="3200" b="0">
                <a:gradFill flip="none" rotWithShape="1"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  <a:tileRect/>
                </a:gra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39F4F5-F4D2-4D2A-AB60-88D37ADCB869}" type="datetimeFigureOut">
              <a:rPr lang="en-US" dirty="0"/>
              <a:t>5/20/2025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20000" y="1825625"/>
            <a:ext cx="5025216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19840" y="1825625"/>
            <a:ext cx="503396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3BC6CE-6D1E-47E5-8859-F31AC5380EB2}" type="datetimeFigureOut">
              <a:rPr lang="en-US" dirty="0"/>
              <a:t>5/20/2025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20000" y="1681163"/>
            <a:ext cx="5025216" cy="823912"/>
          </a:xfrm>
        </p:spPr>
        <p:txBody>
          <a:bodyPr anchor="b"/>
          <a:lstStyle>
            <a:lvl1pPr marL="0" indent="0">
              <a:buNone/>
              <a:defRPr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20000" y="2505075"/>
            <a:ext cx="5025216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19840" y="1681163"/>
            <a:ext cx="5035548" cy="823912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19840" y="2505075"/>
            <a:ext cx="503554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B4E7C4-4DA4-404D-9965-B13F2DD7D8BF}" type="datetimeFigureOut">
              <a:rPr lang="en-US" dirty="0"/>
              <a:t>5/20/2025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FB7AA-4A53-424F-AD41-70827B6504BA}" type="datetimeFigureOut">
              <a:rPr lang="en-US" dirty="0"/>
              <a:t>5/20/2025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884882-FB12-4BC8-9960-9AD8104D7FAE}" type="datetimeFigureOut">
              <a:rPr lang="en-US" dirty="0"/>
              <a:t>5/20/2025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20000" y="2057400"/>
            <a:ext cx="3652025" cy="3811588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D1BD23-6E54-4D9D-AD88-A2813C73CC25}" type="datetimeFigureOut">
              <a:rPr lang="en-US" dirty="0"/>
              <a:t>5/20/2025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20000" y="2057400"/>
            <a:ext cx="3652025" cy="3811588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71A834-4F3C-4AF9-9C74-05EC35A0F292}" type="datetimeFigureOut">
              <a:rPr lang="en-US" dirty="0"/>
              <a:t>5/20/2025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367160"/>
            <a:ext cx="10515600" cy="81935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39788" y="987425"/>
            <a:ext cx="10515600" cy="337973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5186516"/>
            <a:ext cx="10514012" cy="682472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80C674-7DFC-42FE-B9CD-82963CDB1557}" type="datetimeFigureOut">
              <a:rPr lang="en-US" dirty="0"/>
              <a:t>5/20/2025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4489399"/>
            <a:ext cx="10514012" cy="1501826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76456F-F47D-4F25-8053-2A695DA0CA7D}" type="datetimeFigureOut">
              <a:rPr lang="en-US" dirty="0"/>
              <a:t>5/20/2025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365125"/>
            <a:ext cx="9302752" cy="2992904"/>
          </a:xfrm>
        </p:spPr>
        <p:txBody>
          <a:bodyPr anchor="ctr"/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4501729"/>
            <a:ext cx="10512424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6C7379-69CC-4837-9905-BEBA22830C8A}" type="datetimeFigureOut">
              <a:rPr lang="en-US" dirty="0"/>
              <a:t>5/20/2025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1111044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2326967"/>
            <a:ext cx="10515600" cy="2511835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4850581"/>
            <a:ext cx="10514012" cy="1140644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EB8B7E-8AEE-4F10-BFEE-C999AD004D36}" type="datetimeFigureOut">
              <a:rPr lang="en-US" dirty="0"/>
              <a:t>5/20/2025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337282" y="188595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356798" y="257175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87994" y="1885950"/>
            <a:ext cx="2936241" cy="576262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buNone/>
              <a:defRPr lang="en-US"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77441" y="257175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29035" y="1885950"/>
            <a:ext cx="2932113" cy="576262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buNone/>
              <a:defRPr lang="en-US" sz="2400" b="0" dirty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29035" y="257175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68F3F9-58BC-440B-B37B-805B9055EF92}" type="datetimeFigureOut">
              <a:rPr lang="en-US" dirty="0"/>
              <a:t>5/20/2025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332085" y="4297503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2085" y="2256354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332085" y="4873765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997" y="4297503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8996" y="2256354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67644" y="4873764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04322" y="4297503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04321" y="2256354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04197" y="4873762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5A53AF-48EA-489D-8260-9DCAB666386A}" type="datetimeFigureOut">
              <a:rPr lang="en-US" dirty="0"/>
              <a:t>5/20/2025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ED02AE-B9A4-47BD-AF8E-97E16144138B}" type="datetimeFigureOut">
              <a:rPr lang="en-US" dirty="0"/>
              <a:t>5/20/2025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FD78B-DB02-4362-BCDC-98A55456977C}" type="datetimeFigureOut">
              <a:rPr lang="en-US" dirty="0"/>
              <a:t>5/20/2025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>
  <p:cSld name="1_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4038599" cy="685799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7451725" y="1238885"/>
            <a:ext cx="1092834" cy="93789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950" b="0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997845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0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20000" y="1825625"/>
            <a:ext cx="102338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fld id="{51CF1133-3259-4C45-BABA-5B62D9C6F78D}" type="datetimeFigureOut">
              <a:rPr lang="en-US" dirty="0"/>
              <a:t>5/20/2025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  <p:sldLayoutId id="2147483669" r:id="rId18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b="0" kern="1200">
          <a:gradFill flip="none" rotWithShape="1">
            <a:gsLst>
              <a:gs pos="28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  <a:tileRect/>
          </a:gra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8372E1-1033-087B-D50B-8187A676A92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071" y="886713"/>
            <a:ext cx="10649314" cy="1018095"/>
          </a:xfrm>
        </p:spPr>
        <p:txBody>
          <a:bodyPr>
            <a:normAutofit/>
          </a:bodyPr>
          <a:lstStyle/>
          <a:p>
            <a:pPr algn="ctr"/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 Depression Prediction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FE95381-B8EF-A931-5D62-F4C73F861DED}"/>
              </a:ext>
            </a:extLst>
          </p:cNvPr>
          <p:cNvSpPr txBox="1"/>
          <p:nvPr/>
        </p:nvSpPr>
        <p:spPr>
          <a:xfrm>
            <a:off x="905739" y="2629921"/>
            <a:ext cx="5844618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Ani Paul</a:t>
            </a:r>
          </a:p>
          <a:p>
            <a:pPr lvl="1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2022-3-60-321</a:t>
            </a:r>
          </a:p>
          <a:p>
            <a:pPr lvl="1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Md Moon Rahman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Nayem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1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2022-3-60-210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A1D2EF4-98CF-37BA-91E2-B45980A79593}"/>
              </a:ext>
            </a:extLst>
          </p:cNvPr>
          <p:cNvSpPr txBox="1"/>
          <p:nvPr/>
        </p:nvSpPr>
        <p:spPr>
          <a:xfrm>
            <a:off x="3767009" y="1871396"/>
            <a:ext cx="478995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GROUP: 22</a:t>
            </a:r>
          </a:p>
        </p:txBody>
      </p:sp>
    </p:spTree>
    <p:extLst>
      <p:ext uri="{BB962C8B-B14F-4D97-AF65-F5344CB8AC3E}">
        <p14:creationId xmlns:p14="http://schemas.microsoft.com/office/powerpoint/2010/main" val="39534785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>
            <a:extLst>
              <a:ext uri="{FF2B5EF4-FFF2-40B4-BE49-F238E27FC236}">
                <a16:creationId xmlns:a16="http://schemas.microsoft.com/office/drawing/2014/main" id="{71149E2D-74D4-4DDC-ADB0-2A729020B282}"/>
              </a:ext>
            </a:extLst>
          </p:cNvPr>
          <p:cNvSpPr txBox="1"/>
          <p:nvPr/>
        </p:nvSpPr>
        <p:spPr>
          <a:xfrm>
            <a:off x="1597742" y="2649794"/>
            <a:ext cx="22122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164C49A-3C65-4B2F-9317-7DE8D82F2F4D}"/>
              </a:ext>
            </a:extLst>
          </p:cNvPr>
          <p:cNvSpPr txBox="1"/>
          <p:nvPr/>
        </p:nvSpPr>
        <p:spPr>
          <a:xfrm>
            <a:off x="1750142" y="2802194"/>
            <a:ext cx="22122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79D4A99-C38C-4258-B0E0-EEBC1E920345}"/>
              </a:ext>
            </a:extLst>
          </p:cNvPr>
          <p:cNvSpPr txBox="1"/>
          <p:nvPr/>
        </p:nvSpPr>
        <p:spPr>
          <a:xfrm>
            <a:off x="629264" y="2649794"/>
            <a:ext cx="348553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Description</a:t>
            </a:r>
          </a:p>
        </p:txBody>
      </p:sp>
      <p:sp>
        <p:nvSpPr>
          <p:cNvPr id="17" name="Flowchart: Process 16">
            <a:extLst>
              <a:ext uri="{FF2B5EF4-FFF2-40B4-BE49-F238E27FC236}">
                <a16:creationId xmlns:a16="http://schemas.microsoft.com/office/drawing/2014/main" id="{260DC5EF-068C-4735-8F9B-310069F35894}"/>
              </a:ext>
            </a:extLst>
          </p:cNvPr>
          <p:cNvSpPr/>
          <p:nvPr/>
        </p:nvSpPr>
        <p:spPr>
          <a:xfrm>
            <a:off x="4778477" y="2104102"/>
            <a:ext cx="2910349" cy="2231923"/>
          </a:xfrm>
          <a:prstGeom prst="flowChartProcess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27,901 Rows</a:t>
            </a:r>
          </a:p>
          <a:p>
            <a:pPr algn="ctr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18 Features</a:t>
            </a:r>
          </a:p>
        </p:txBody>
      </p:sp>
      <p:sp>
        <p:nvSpPr>
          <p:cNvPr id="19" name="Flowchart: Process 18">
            <a:extLst>
              <a:ext uri="{FF2B5EF4-FFF2-40B4-BE49-F238E27FC236}">
                <a16:creationId xmlns:a16="http://schemas.microsoft.com/office/drawing/2014/main" id="{E488BD0F-80A7-4F55-A0BE-F845F33CCADF}"/>
              </a:ext>
            </a:extLst>
          </p:cNvPr>
          <p:cNvSpPr/>
          <p:nvPr/>
        </p:nvSpPr>
        <p:spPr>
          <a:xfrm>
            <a:off x="8657305" y="2104103"/>
            <a:ext cx="2816940" cy="2231922"/>
          </a:xfrm>
          <a:prstGeom prst="flowChart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Target Feature</a:t>
            </a:r>
            <a:b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Depression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ECBF5043-AAF5-4D17-8B7C-20A271F5A9DD}"/>
              </a:ext>
            </a:extLst>
          </p:cNvPr>
          <p:cNvSpPr txBox="1"/>
          <p:nvPr/>
        </p:nvSpPr>
        <p:spPr>
          <a:xfrm flipV="1">
            <a:off x="7245421" y="5465207"/>
            <a:ext cx="3394003" cy="28402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>
            <a:extLst>
              <a:ext uri="{FF2B5EF4-FFF2-40B4-BE49-F238E27FC236}">
                <a16:creationId xmlns:a16="http://schemas.microsoft.com/office/drawing/2014/main" id="{71149E2D-74D4-4DDC-ADB0-2A729020B282}"/>
              </a:ext>
            </a:extLst>
          </p:cNvPr>
          <p:cNvSpPr txBox="1"/>
          <p:nvPr/>
        </p:nvSpPr>
        <p:spPr>
          <a:xfrm>
            <a:off x="1597742" y="2649794"/>
            <a:ext cx="22122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164C49A-3C65-4B2F-9317-7DE8D82F2F4D}"/>
              </a:ext>
            </a:extLst>
          </p:cNvPr>
          <p:cNvSpPr txBox="1"/>
          <p:nvPr/>
        </p:nvSpPr>
        <p:spPr>
          <a:xfrm>
            <a:off x="1750142" y="2802194"/>
            <a:ext cx="22122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79D4A99-C38C-4258-B0E0-EEBC1E920345}"/>
              </a:ext>
            </a:extLst>
          </p:cNvPr>
          <p:cNvSpPr txBox="1"/>
          <p:nvPr/>
        </p:nvSpPr>
        <p:spPr>
          <a:xfrm>
            <a:off x="629264" y="2649794"/>
            <a:ext cx="348553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Preprocessing</a:t>
            </a:r>
          </a:p>
        </p:txBody>
      </p:sp>
      <p:sp>
        <p:nvSpPr>
          <p:cNvPr id="17" name="Flowchart: Process 16">
            <a:extLst>
              <a:ext uri="{FF2B5EF4-FFF2-40B4-BE49-F238E27FC236}">
                <a16:creationId xmlns:a16="http://schemas.microsoft.com/office/drawing/2014/main" id="{260DC5EF-068C-4735-8F9B-310069F35894}"/>
              </a:ext>
            </a:extLst>
          </p:cNvPr>
          <p:cNvSpPr/>
          <p:nvPr/>
        </p:nvSpPr>
        <p:spPr>
          <a:xfrm>
            <a:off x="4778477" y="1428751"/>
            <a:ext cx="2910349" cy="2075008"/>
          </a:xfrm>
          <a:prstGeom prst="flowChartProcess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Checking For Null Values</a:t>
            </a:r>
          </a:p>
        </p:txBody>
      </p:sp>
      <p:sp>
        <p:nvSpPr>
          <p:cNvPr id="19" name="Flowchart: Process 18">
            <a:extLst>
              <a:ext uri="{FF2B5EF4-FFF2-40B4-BE49-F238E27FC236}">
                <a16:creationId xmlns:a16="http://schemas.microsoft.com/office/drawing/2014/main" id="{E488BD0F-80A7-4F55-A0BE-F845F33CCADF}"/>
              </a:ext>
            </a:extLst>
          </p:cNvPr>
          <p:cNvSpPr/>
          <p:nvPr/>
        </p:nvSpPr>
        <p:spPr>
          <a:xfrm>
            <a:off x="8657305" y="1428751"/>
            <a:ext cx="2816940" cy="2075007"/>
          </a:xfrm>
          <a:prstGeom prst="flowChart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City: 17</a:t>
            </a:r>
          </a:p>
          <a:p>
            <a:pPr algn="ctr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Financial Stress: 03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ECBF5043-AAF5-4D17-8B7C-20A271F5A9DD}"/>
              </a:ext>
            </a:extLst>
          </p:cNvPr>
          <p:cNvSpPr txBox="1"/>
          <p:nvPr/>
        </p:nvSpPr>
        <p:spPr>
          <a:xfrm flipV="1">
            <a:off x="7245421" y="5465207"/>
            <a:ext cx="3394003" cy="28402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2" name="Arrow: Right 1">
            <a:extLst>
              <a:ext uri="{FF2B5EF4-FFF2-40B4-BE49-F238E27FC236}">
                <a16:creationId xmlns:a16="http://schemas.microsoft.com/office/drawing/2014/main" id="{80D6A667-5167-4714-951F-91C85A600203}"/>
              </a:ext>
            </a:extLst>
          </p:cNvPr>
          <p:cNvSpPr/>
          <p:nvPr/>
        </p:nvSpPr>
        <p:spPr>
          <a:xfrm>
            <a:off x="7877175" y="1752600"/>
            <a:ext cx="628650" cy="1418926"/>
          </a:xfrm>
          <a:prstGeom prst="rightArrow">
            <a:avLst>
              <a:gd name="adj1" fmla="val 50000"/>
              <a:gd name="adj2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Flowchart: Alternate Process 2">
            <a:extLst>
              <a:ext uri="{FF2B5EF4-FFF2-40B4-BE49-F238E27FC236}">
                <a16:creationId xmlns:a16="http://schemas.microsoft.com/office/drawing/2014/main" id="{2D2F4A62-A4A9-4DC7-8801-25038BA1A563}"/>
              </a:ext>
            </a:extLst>
          </p:cNvPr>
          <p:cNvSpPr/>
          <p:nvPr/>
        </p:nvSpPr>
        <p:spPr>
          <a:xfrm>
            <a:off x="5181599" y="4457699"/>
            <a:ext cx="5953125" cy="1418925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2700" marR="5080" indent="-1270" algn="ctr">
              <a:lnSpc>
                <a:spcPct val="92100"/>
              </a:lnSpc>
              <a:spcBef>
                <a:spcPts val="370"/>
              </a:spcBef>
            </a:pPr>
            <a:r>
              <a:rPr lang="en-US" sz="2400" spc="-2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Handle</a:t>
            </a:r>
            <a:r>
              <a:rPr lang="en-US" sz="2400" spc="-165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spc="-25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400" spc="-65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categorical</a:t>
            </a:r>
            <a:r>
              <a:rPr lang="en-US" sz="2400" spc="-195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spc="-2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value </a:t>
            </a:r>
            <a:r>
              <a:rPr lang="en-US" sz="2400" spc="-1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with Mapping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08539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>
            <a:extLst>
              <a:ext uri="{FF2B5EF4-FFF2-40B4-BE49-F238E27FC236}">
                <a16:creationId xmlns:a16="http://schemas.microsoft.com/office/drawing/2014/main" id="{71149E2D-74D4-4DDC-ADB0-2A729020B282}"/>
              </a:ext>
            </a:extLst>
          </p:cNvPr>
          <p:cNvSpPr txBox="1"/>
          <p:nvPr/>
        </p:nvSpPr>
        <p:spPr>
          <a:xfrm>
            <a:off x="1597742" y="2649794"/>
            <a:ext cx="22122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164C49A-3C65-4B2F-9317-7DE8D82F2F4D}"/>
              </a:ext>
            </a:extLst>
          </p:cNvPr>
          <p:cNvSpPr txBox="1"/>
          <p:nvPr/>
        </p:nvSpPr>
        <p:spPr>
          <a:xfrm>
            <a:off x="1750142" y="2802194"/>
            <a:ext cx="22122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79D4A99-C38C-4258-B0E0-EEBC1E920345}"/>
              </a:ext>
            </a:extLst>
          </p:cNvPr>
          <p:cNvSpPr txBox="1"/>
          <p:nvPr/>
        </p:nvSpPr>
        <p:spPr>
          <a:xfrm>
            <a:off x="629264" y="2649794"/>
            <a:ext cx="348553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Correlation </a:t>
            </a:r>
          </a:p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Matrix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ECBF5043-AAF5-4D17-8B7C-20A271F5A9DD}"/>
              </a:ext>
            </a:extLst>
          </p:cNvPr>
          <p:cNvSpPr txBox="1"/>
          <p:nvPr/>
        </p:nvSpPr>
        <p:spPr>
          <a:xfrm flipV="1">
            <a:off x="7245421" y="5465207"/>
            <a:ext cx="3394003" cy="28402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4DAD614-1F75-42D8-8686-B2F21C9F44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799" y="1"/>
            <a:ext cx="8229600" cy="5200650"/>
          </a:xfrm>
          <a:prstGeom prst="rect">
            <a:avLst/>
          </a:prstGeom>
        </p:spPr>
      </p:pic>
      <p:sp>
        <p:nvSpPr>
          <p:cNvPr id="6" name="Flowchart: Alternate Process 5">
            <a:extLst>
              <a:ext uri="{FF2B5EF4-FFF2-40B4-BE49-F238E27FC236}">
                <a16:creationId xmlns:a16="http://schemas.microsoft.com/office/drawing/2014/main" id="{4DABF4C7-E60E-472D-BF75-95650BD0D684}"/>
              </a:ext>
            </a:extLst>
          </p:cNvPr>
          <p:cNvSpPr/>
          <p:nvPr/>
        </p:nvSpPr>
        <p:spPr>
          <a:xfrm>
            <a:off x="4724399" y="5324475"/>
            <a:ext cx="6886575" cy="1212723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Strong correlations between: Academic Pressure and Work Pressure (0.77), Study Satisfaction and Job Satisfaction (0.77), Eating Habits and Sleeping Duration (0.89)</a:t>
            </a:r>
          </a:p>
        </p:txBody>
      </p:sp>
    </p:spTree>
    <p:extLst>
      <p:ext uri="{BB962C8B-B14F-4D97-AF65-F5344CB8AC3E}">
        <p14:creationId xmlns:p14="http://schemas.microsoft.com/office/powerpoint/2010/main" val="9559875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Open photo">
            <a:extLst>
              <a:ext uri="{FF2B5EF4-FFF2-40B4-BE49-F238E27FC236}">
                <a16:creationId xmlns:a16="http://schemas.microsoft.com/office/drawing/2014/main" id="{893F9C95-7411-49C4-8EDF-594BCBBEC5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62150" y="250031"/>
            <a:ext cx="8267700" cy="63579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260328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Open photo">
            <a:extLst>
              <a:ext uri="{FF2B5EF4-FFF2-40B4-BE49-F238E27FC236}">
                <a16:creationId xmlns:a16="http://schemas.microsoft.com/office/drawing/2014/main" id="{5750BE99-F152-4CAF-8077-79BC62669C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300" y="1040604"/>
            <a:ext cx="4991100" cy="44719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AutoShape 10">
            <a:extLst>
              <a:ext uri="{FF2B5EF4-FFF2-40B4-BE49-F238E27FC236}">
                <a16:creationId xmlns:a16="http://schemas.microsoft.com/office/drawing/2014/main" id="{D58715C0-7E3F-4C44-AF15-210B81385AB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599" y="3276599"/>
            <a:ext cx="3419475" cy="3419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" name="AutoShape 12">
            <a:extLst>
              <a:ext uri="{FF2B5EF4-FFF2-40B4-BE49-F238E27FC236}">
                <a16:creationId xmlns:a16="http://schemas.microsoft.com/office/drawing/2014/main" id="{B01FE120-448F-438F-A77A-FF878CFD2CE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6828FFA-88F0-4D25-80E0-CD7C15D13D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38927" y="1040604"/>
            <a:ext cx="5057773" cy="4471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56116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Open photo">
            <a:extLst>
              <a:ext uri="{FF2B5EF4-FFF2-40B4-BE49-F238E27FC236}">
                <a16:creationId xmlns:a16="http://schemas.microsoft.com/office/drawing/2014/main" id="{E1BFCEF6-0C76-4A14-9B1B-9B40B0F924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8120" y="1059681"/>
            <a:ext cx="4944163" cy="47386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38ED469-A056-4EEB-A726-75A750E66C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1023" y="1059681"/>
            <a:ext cx="4944163" cy="4738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71939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1AD3C7E-B1B9-420B-956D-0C79D2F196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7247" y="1043674"/>
            <a:ext cx="4751109" cy="459463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8D7EF33-9C48-4862-86D6-11116D94FC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1051" y="1043674"/>
            <a:ext cx="4396524" cy="4594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76529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4500562E-3304-4EEC-9D2B-151F3C23DD8A}"/>
              </a:ext>
            </a:extLst>
          </p:cNvPr>
          <p:cNvSpPr txBox="1"/>
          <p:nvPr/>
        </p:nvSpPr>
        <p:spPr>
          <a:xfrm>
            <a:off x="600075" y="2305050"/>
            <a:ext cx="3076575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/>
              <a:t>Machine Learning</a:t>
            </a:r>
          </a:p>
          <a:p>
            <a:r>
              <a:rPr lang="en-US" sz="4400" b="1" dirty="0"/>
              <a:t>Model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EE8CE8D7-9B8B-4D23-8725-2FF605A42620}"/>
              </a:ext>
            </a:extLst>
          </p:cNvPr>
          <p:cNvSpPr/>
          <p:nvPr/>
        </p:nvSpPr>
        <p:spPr>
          <a:xfrm>
            <a:off x="4943476" y="695326"/>
            <a:ext cx="2543174" cy="219074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Logistic Regressi0n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A74C791B-0565-42B9-AC01-AB6D9B4169F4}"/>
              </a:ext>
            </a:extLst>
          </p:cNvPr>
          <p:cNvSpPr/>
          <p:nvPr/>
        </p:nvSpPr>
        <p:spPr>
          <a:xfrm>
            <a:off x="8505825" y="695326"/>
            <a:ext cx="2543174" cy="219074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SVM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2A40BB8C-F455-4E00-902D-E94D00B39EE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9565" r="20773" b="5868"/>
          <a:stretch/>
        </p:blipFill>
        <p:spPr>
          <a:xfrm>
            <a:off x="5495927" y="3576641"/>
            <a:ext cx="5267324" cy="2123659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526963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13D9F2A-6EF3-4708-9DD3-FD190301FCA1}"/>
              </a:ext>
            </a:extLst>
          </p:cNvPr>
          <p:cNvSpPr txBox="1"/>
          <p:nvPr/>
        </p:nvSpPr>
        <p:spPr>
          <a:xfrm>
            <a:off x="523876" y="2905125"/>
            <a:ext cx="27813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Confusion Matrix-Logistic Regression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1B68CA1-C4E8-42FE-B710-66AF071950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95925" y="1371600"/>
            <a:ext cx="5238750" cy="411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25433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13D9F2A-6EF3-4708-9DD3-FD190301FCA1}"/>
              </a:ext>
            </a:extLst>
          </p:cNvPr>
          <p:cNvSpPr txBox="1"/>
          <p:nvPr/>
        </p:nvSpPr>
        <p:spPr>
          <a:xfrm>
            <a:off x="1066800" y="2828925"/>
            <a:ext cx="249555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Confusion Matrix-SVM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FDF1867-4F39-4D40-850E-F5578E0C06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86425" y="1371600"/>
            <a:ext cx="5238750" cy="411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03803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3F76378-56F4-4541-B9A4-27D9F33FE82E}"/>
              </a:ext>
            </a:extLst>
          </p:cNvPr>
          <p:cNvSpPr txBox="1"/>
          <p:nvPr/>
        </p:nvSpPr>
        <p:spPr>
          <a:xfrm>
            <a:off x="733424" y="2895600"/>
            <a:ext cx="26955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/>
              <a:t>Conclusion</a:t>
            </a:r>
          </a:p>
        </p:txBody>
      </p:sp>
      <p:sp>
        <p:nvSpPr>
          <p:cNvPr id="5" name="Flowchart: Connector 4">
            <a:extLst>
              <a:ext uri="{FF2B5EF4-FFF2-40B4-BE49-F238E27FC236}">
                <a16:creationId xmlns:a16="http://schemas.microsoft.com/office/drawing/2014/main" id="{B2C751CB-B026-4083-9EA1-7A11D604DCBD}"/>
              </a:ext>
            </a:extLst>
          </p:cNvPr>
          <p:cNvSpPr/>
          <p:nvPr/>
        </p:nvSpPr>
        <p:spPr>
          <a:xfrm>
            <a:off x="6096000" y="1441668"/>
            <a:ext cx="4571999" cy="4200525"/>
          </a:xfrm>
          <a:prstGeom prst="flowChartConnec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2065" marR="5080" algn="just">
              <a:lnSpc>
                <a:spcPct val="90100"/>
              </a:lnSpc>
              <a:spcBef>
                <a:spcPts val="434"/>
              </a:spcBef>
              <a:tabLst>
                <a:tab pos="241935" algn="l"/>
              </a:tabLst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Logistic Regression is better performance in this dataset. From the evaluation metrics, accuracy, precision, recall, and F1-score also do not make a big difference between Logistic Regression (LR) vs. Support Vector Machine (SVM).</a:t>
            </a:r>
          </a:p>
        </p:txBody>
      </p:sp>
    </p:spTree>
    <p:extLst>
      <p:ext uri="{BB962C8B-B14F-4D97-AF65-F5344CB8AC3E}">
        <p14:creationId xmlns:p14="http://schemas.microsoft.com/office/powerpoint/2010/main" val="9667745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83E00C9-F7ED-2600-BCF8-74A951B2E2BB}"/>
              </a:ext>
            </a:extLst>
          </p:cNvPr>
          <p:cNvSpPr txBox="1"/>
          <p:nvPr/>
        </p:nvSpPr>
        <p:spPr>
          <a:xfrm>
            <a:off x="3667126" y="2695575"/>
            <a:ext cx="4801466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600" dirty="0"/>
              <a:t>THANK YOU </a:t>
            </a:r>
          </a:p>
        </p:txBody>
      </p:sp>
    </p:spTree>
    <p:extLst>
      <p:ext uri="{BB962C8B-B14F-4D97-AF65-F5344CB8AC3E}">
        <p14:creationId xmlns:p14="http://schemas.microsoft.com/office/powerpoint/2010/main" val="1751623838"/>
      </p:ext>
    </p:extLst>
  </p:cSld>
  <p:clrMapOvr>
    <a:masterClrMapping/>
  </p:clrMapOvr>
</p:sld>
</file>

<file path=ppt/theme/theme1.xml><?xml version="1.0" encoding="utf-8"?>
<a:theme xmlns:a="http://schemas.openxmlformats.org/drawingml/2006/main" name="Depth">
  <a:themeElements>
    <a:clrScheme name="Depth">
      <a:dk1>
        <a:sysClr val="windowText" lastClr="000000"/>
      </a:dk1>
      <a:lt1>
        <a:sysClr val="window" lastClr="FFFFFF"/>
      </a:lt1>
      <a:dk2>
        <a:srgbClr val="455F51"/>
      </a:dk2>
      <a:lt2>
        <a:srgbClr val="94D7E4"/>
      </a:lt2>
      <a:accent1>
        <a:srgbClr val="41AEBD"/>
      </a:accent1>
      <a:accent2>
        <a:srgbClr val="97E9D5"/>
      </a:accent2>
      <a:accent3>
        <a:srgbClr val="A2CF49"/>
      </a:accent3>
      <a:accent4>
        <a:srgbClr val="608F3D"/>
      </a:accent4>
      <a:accent5>
        <a:srgbClr val="F4DE3A"/>
      </a:accent5>
      <a:accent6>
        <a:srgbClr val="FCB11C"/>
      </a:accent6>
      <a:hlink>
        <a:srgbClr val="FBCA98"/>
      </a:hlink>
      <a:folHlink>
        <a:srgbClr val="D3B86D"/>
      </a:folHlink>
    </a:clrScheme>
    <a:fontScheme name="Depth">
      <a:majorFont>
        <a:latin typeface="Corbel" panose="020B0503020204020204"/>
        <a:ea typeface=""/>
        <a:cs typeface=""/>
        <a:font script="Jpan" typeface="メイリオ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メイリオ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epth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epth" id="{7BEAFC2A-325C-49C4-AC08-2B765DA903F9}" vid="{1735E755-43E6-43AA-ABA2-C989ECC79AF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TM04033923[[fn=Depth]]</Template>
  <TotalTime>1107</TotalTime>
  <Words>131</Words>
  <Application>Microsoft Office PowerPoint</Application>
  <PresentationFormat>Widescreen</PresentationFormat>
  <Paragraphs>28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Corbel</vt:lpstr>
      <vt:lpstr>Times New Roman</vt:lpstr>
      <vt:lpstr>Trebuchet MS</vt:lpstr>
      <vt:lpstr>Depth</vt:lpstr>
      <vt:lpstr>Student Depression Prediction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HOSPITAL  MANAGEMENT  SYSTEM</dc:title>
  <dc:creator>Shadman Shakib Dip</dc:creator>
  <cp:lastModifiedBy>ASUS</cp:lastModifiedBy>
  <cp:revision>16</cp:revision>
  <dcterms:created xsi:type="dcterms:W3CDTF">2025-01-22T17:56:28Z</dcterms:created>
  <dcterms:modified xsi:type="dcterms:W3CDTF">2025-05-19T20:03:26Z</dcterms:modified>
</cp:coreProperties>
</file>